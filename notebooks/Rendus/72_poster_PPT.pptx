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28803600" cx="21597925"/>
  <p:notesSz cx="6858000" cy="9144000"/>
  <p:embeddedFontLst>
    <p:embeddedFont>
      <p:font typeface="Century Gothic"/>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600">
          <p15:clr>
            <a:srgbClr val="A4A3A4"/>
          </p15:clr>
        </p15:guide>
        <p15:guide id="2" pos="6802">
          <p15:clr>
            <a:srgbClr val="A4A3A4"/>
          </p15:clr>
        </p15:guide>
      </p15:sldGuideLst>
    </p:ext>
    <p:ext uri="GoogleSlidesCustomDataVersion2">
      <go:slidesCustomData xmlns:go="http://customooxmlschemas.google.com/" r:id="rId11" roundtripDataSignature="AMtx7miRcwtcN6zqCw/2y2Eh5Xp7hq+g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00" orient="horz"/>
        <p:guide pos="680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font" Target="fonts/CenturyGothic-boldItalic.fntdata"/><Relationship Id="rId9" Type="http://schemas.openxmlformats.org/officeDocument/2006/relationships/font" Target="fonts/CenturyGothic-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CenturyGothic-regular.fntdata"/><Relationship Id="rId8" Type="http://schemas.openxmlformats.org/officeDocument/2006/relationships/font" Target="fonts/CenturyGothic-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 name="Google Shape;20;p1:notes"/>
          <p:cNvSpPr/>
          <p:nvPr>
            <p:ph idx="2" type="sldImg"/>
          </p:nvPr>
        </p:nvSpPr>
        <p:spPr>
          <a:xfrm>
            <a:off x="2143125" y="685800"/>
            <a:ext cx="257175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10" name="Shape 10"/>
        <p:cNvGrpSpPr/>
        <p:nvPr/>
      </p:nvGrpSpPr>
      <p:grpSpPr>
        <a:xfrm>
          <a:off x="0" y="0"/>
          <a:ext cx="0" cy="0"/>
          <a:chOff x="0" y="0"/>
          <a:chExt cx="0" cy="0"/>
        </a:xfrm>
      </p:grpSpPr>
      <p:sp>
        <p:nvSpPr>
          <p:cNvPr id="11" name="Google Shape;11;p3"/>
          <p:cNvSpPr/>
          <p:nvPr/>
        </p:nvSpPr>
        <p:spPr>
          <a:xfrm>
            <a:off x="8661" y="-3034"/>
            <a:ext cx="21589278" cy="5329158"/>
          </a:xfrm>
          <a:prstGeom prst="roundRect">
            <a:avLst>
              <a:gd fmla="val 0" name="adj"/>
            </a:avLst>
          </a:prstGeom>
          <a:solidFill>
            <a:srgbClr val="27547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238EA0"/>
              </a:solidFill>
              <a:latin typeface="Arial"/>
              <a:ea typeface="Arial"/>
              <a:cs typeface="Arial"/>
              <a:sym typeface="Arial"/>
            </a:endParaRPr>
          </a:p>
        </p:txBody>
      </p:sp>
      <p:pic>
        <p:nvPicPr>
          <p:cNvPr descr="Une image contenant noir&#10;&#10;Description générée automatiquement" id="12" name="Google Shape;12;p3"/>
          <p:cNvPicPr preferRelativeResize="0"/>
          <p:nvPr/>
        </p:nvPicPr>
        <p:blipFill rotWithShape="1">
          <a:blip r:embed="rId2">
            <a:alphaModFix amt="47000"/>
          </a:blip>
          <a:srcRect b="22771" l="0" r="0" t="33345"/>
          <a:stretch/>
        </p:blipFill>
        <p:spPr>
          <a:xfrm>
            <a:off x="8661" y="-5702"/>
            <a:ext cx="21589278" cy="5329159"/>
          </a:xfrm>
          <a:prstGeom prst="rect">
            <a:avLst/>
          </a:prstGeom>
          <a:solidFill>
            <a:srgbClr val="238EA0"/>
          </a:solidFill>
          <a:ln>
            <a:noFill/>
          </a:ln>
        </p:spPr>
      </p:pic>
      <p:pic>
        <p:nvPicPr>
          <p:cNvPr id="13" name="Google Shape;13;p3"/>
          <p:cNvPicPr preferRelativeResize="0"/>
          <p:nvPr/>
        </p:nvPicPr>
        <p:blipFill rotWithShape="1">
          <a:blip r:embed="rId3">
            <a:alphaModFix/>
          </a:blip>
          <a:srcRect b="0" l="0" r="0" t="0"/>
          <a:stretch/>
        </p:blipFill>
        <p:spPr>
          <a:xfrm>
            <a:off x="1149897" y="1080320"/>
            <a:ext cx="2366845" cy="3579539"/>
          </a:xfrm>
          <a:prstGeom prst="rect">
            <a:avLst/>
          </a:prstGeom>
          <a:noFill/>
          <a:ln>
            <a:noFill/>
          </a:ln>
        </p:spPr>
      </p:pic>
      <p:pic>
        <p:nvPicPr>
          <p:cNvPr descr="Une image contenant dessin&#10;&#10;Description générée automatiquement" id="14" name="Google Shape;14;p3"/>
          <p:cNvPicPr preferRelativeResize="0"/>
          <p:nvPr/>
        </p:nvPicPr>
        <p:blipFill rotWithShape="1">
          <a:blip r:embed="rId4">
            <a:alphaModFix/>
          </a:blip>
          <a:srcRect b="0" l="0" r="0" t="0"/>
          <a:stretch/>
        </p:blipFill>
        <p:spPr>
          <a:xfrm>
            <a:off x="18482418" y="3600600"/>
            <a:ext cx="2288315" cy="900072"/>
          </a:xfrm>
          <a:prstGeom prst="rect">
            <a:avLst/>
          </a:prstGeom>
          <a:noFill/>
          <a:ln>
            <a:noFill/>
          </a:ln>
        </p:spPr>
      </p:pic>
      <p:sp>
        <p:nvSpPr>
          <p:cNvPr id="15" name="Google Shape;15;p3"/>
          <p:cNvSpPr/>
          <p:nvPr/>
        </p:nvSpPr>
        <p:spPr>
          <a:xfrm>
            <a:off x="8661" y="27809874"/>
            <a:ext cx="21597938" cy="993726"/>
          </a:xfrm>
          <a:prstGeom prst="roundRect">
            <a:avLst>
              <a:gd fmla="val 0" name="adj"/>
            </a:avLst>
          </a:prstGeom>
          <a:solidFill>
            <a:srgbClr val="1E416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rgbClr val="238EA0"/>
              </a:solidFill>
              <a:latin typeface="Arial"/>
              <a:ea typeface="Arial"/>
              <a:cs typeface="Arial"/>
              <a:sym typeface="Arial"/>
            </a:endParaRPr>
          </a:p>
        </p:txBody>
      </p:sp>
      <p:sp>
        <p:nvSpPr>
          <p:cNvPr id="16" name="Google Shape;16;p3"/>
          <p:cNvSpPr/>
          <p:nvPr/>
        </p:nvSpPr>
        <p:spPr>
          <a:xfrm>
            <a:off x="485590" y="28006734"/>
            <a:ext cx="165301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800"/>
              <a:buFont typeface="Century Gothic"/>
              <a:buNone/>
            </a:pPr>
            <a:r>
              <a:rPr b="1" i="0" lang="fr-FR" sz="2800" u="none" cap="none" strike="noStrike">
                <a:solidFill>
                  <a:schemeClr val="lt1"/>
                </a:solidFill>
                <a:latin typeface="Century Gothic"/>
                <a:ea typeface="Century Gothic"/>
                <a:cs typeface="Century Gothic"/>
                <a:sym typeface="Century Gothic"/>
              </a:rPr>
              <a:t>Contact</a:t>
            </a:r>
            <a:endParaRPr/>
          </a:p>
        </p:txBody>
      </p:sp>
      <p:sp>
        <p:nvSpPr>
          <p:cNvPr id="17" name="Google Shape;17;p3"/>
          <p:cNvSpPr/>
          <p:nvPr/>
        </p:nvSpPr>
        <p:spPr>
          <a:xfrm>
            <a:off x="1" y="5328792"/>
            <a:ext cx="4267200" cy="22481082"/>
          </a:xfrm>
          <a:prstGeom prst="rect">
            <a:avLst/>
          </a:prstGeom>
          <a:solidFill>
            <a:srgbClr val="F2F2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6.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
        <p:nvSpPr>
          <p:cNvPr id="22" name="Google Shape;22;p1"/>
          <p:cNvSpPr txBox="1"/>
          <p:nvPr/>
        </p:nvSpPr>
        <p:spPr>
          <a:xfrm>
            <a:off x="724273" y="6102213"/>
            <a:ext cx="168026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fr-FR" sz="3200" u="none" cap="none" strike="noStrike">
                <a:solidFill>
                  <a:srgbClr val="052E65"/>
                </a:solidFill>
                <a:latin typeface="Century Gothic"/>
                <a:ea typeface="Century Gothic"/>
                <a:cs typeface="Century Gothic"/>
                <a:sym typeface="Century Gothic"/>
              </a:rPr>
              <a:t>Auteurs</a:t>
            </a:r>
            <a:endParaRPr/>
          </a:p>
        </p:txBody>
      </p:sp>
      <p:sp>
        <p:nvSpPr>
          <p:cNvPr id="23" name="Google Shape;23;p1"/>
          <p:cNvSpPr txBox="1"/>
          <p:nvPr/>
        </p:nvSpPr>
        <p:spPr>
          <a:xfrm>
            <a:off x="724273" y="13536699"/>
            <a:ext cx="239360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3200">
                <a:solidFill>
                  <a:srgbClr val="052E65"/>
                </a:solidFill>
                <a:latin typeface="Century Gothic"/>
                <a:ea typeface="Century Gothic"/>
                <a:cs typeface="Century Gothic"/>
                <a:sym typeface="Century Gothic"/>
              </a:rPr>
              <a:t>Partenaires</a:t>
            </a:r>
            <a:endParaRPr/>
          </a:p>
        </p:txBody>
      </p:sp>
      <p:sp>
        <p:nvSpPr>
          <p:cNvPr id="24" name="Google Shape;24;p1"/>
          <p:cNvSpPr txBox="1"/>
          <p:nvPr/>
        </p:nvSpPr>
        <p:spPr>
          <a:xfrm>
            <a:off x="708398" y="13846038"/>
            <a:ext cx="3368675"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25" name="Google Shape;25;p1"/>
          <p:cNvSpPr txBox="1"/>
          <p:nvPr/>
        </p:nvSpPr>
        <p:spPr>
          <a:xfrm>
            <a:off x="724273" y="6759635"/>
            <a:ext cx="3017912" cy="1517018"/>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fr-FR" sz="1800">
                <a:solidFill>
                  <a:schemeClr val="dk1"/>
                </a:solidFill>
                <a:latin typeface="Century Gothic"/>
                <a:ea typeface="Century Gothic"/>
                <a:cs typeface="Century Gothic"/>
                <a:sym typeface="Century Gothic"/>
              </a:rPr>
              <a:t>LAKAS Idriss</a:t>
            </a:r>
            <a:endParaRPr/>
          </a:p>
          <a:p>
            <a:pPr indent="0" lvl="0" marL="0" marR="0" rtl="0" algn="l">
              <a:lnSpc>
                <a:spcPct val="110000"/>
              </a:lnSpc>
              <a:spcBef>
                <a:spcPts val="600"/>
              </a:spcBef>
              <a:spcAft>
                <a:spcPts val="0"/>
              </a:spcAft>
              <a:buNone/>
            </a:pPr>
            <a:r>
              <a:rPr lang="fr-FR" sz="1800">
                <a:solidFill>
                  <a:schemeClr val="dk1"/>
                </a:solidFill>
                <a:latin typeface="Century Gothic"/>
                <a:ea typeface="Century Gothic"/>
                <a:cs typeface="Century Gothic"/>
                <a:sym typeface="Century Gothic"/>
              </a:rPr>
              <a:t>AMAZOUZ Yaniss</a:t>
            </a:r>
            <a:endParaRPr sz="1800">
              <a:solidFill>
                <a:schemeClr val="dk1"/>
              </a:solidFill>
              <a:latin typeface="Century Gothic"/>
              <a:ea typeface="Century Gothic"/>
              <a:cs typeface="Century Gothic"/>
              <a:sym typeface="Century Gothic"/>
            </a:endParaRPr>
          </a:p>
          <a:p>
            <a:pPr indent="0" lvl="0" marL="0" marR="0" rtl="0" algn="l">
              <a:lnSpc>
                <a:spcPct val="110000"/>
              </a:lnSpc>
              <a:spcBef>
                <a:spcPts val="600"/>
              </a:spcBef>
              <a:spcAft>
                <a:spcPts val="0"/>
              </a:spcAft>
              <a:buNone/>
            </a:pPr>
            <a:r>
              <a:rPr lang="fr-FR" sz="1800">
                <a:solidFill>
                  <a:schemeClr val="dk1"/>
                </a:solidFill>
                <a:latin typeface="Century Gothic"/>
                <a:ea typeface="Century Gothic"/>
                <a:cs typeface="Century Gothic"/>
                <a:sym typeface="Century Gothic"/>
              </a:rPr>
              <a:t>MEIGNEN Erwan</a:t>
            </a:r>
            <a:endParaRPr/>
          </a:p>
          <a:p>
            <a:pPr indent="0" lvl="0" marL="0" marR="0" rtl="0" algn="l">
              <a:lnSpc>
                <a:spcPct val="110000"/>
              </a:lnSpc>
              <a:spcBef>
                <a:spcPts val="600"/>
              </a:spcBef>
              <a:spcAft>
                <a:spcPts val="0"/>
              </a:spcAft>
              <a:buNone/>
            </a:pPr>
            <a:r>
              <a:rPr lang="fr-FR" sz="1800">
                <a:solidFill>
                  <a:schemeClr val="dk1"/>
                </a:solidFill>
                <a:latin typeface="Century Gothic"/>
                <a:ea typeface="Century Gothic"/>
                <a:cs typeface="Century Gothic"/>
                <a:sym typeface="Century Gothic"/>
              </a:rPr>
              <a:t>DAHDAH Rayane</a:t>
            </a:r>
            <a:endParaRPr/>
          </a:p>
        </p:txBody>
      </p:sp>
      <p:sp>
        <p:nvSpPr>
          <p:cNvPr id="26" name="Google Shape;26;p1"/>
          <p:cNvSpPr txBox="1"/>
          <p:nvPr/>
        </p:nvSpPr>
        <p:spPr>
          <a:xfrm rot="-5400000">
            <a:off x="18893718" y="22437425"/>
            <a:ext cx="4682953" cy="27699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lang="fr-FR" sz="1200">
                <a:solidFill>
                  <a:schemeClr val="dk1"/>
                </a:solidFill>
                <a:latin typeface="Arial"/>
                <a:ea typeface="Arial"/>
                <a:cs typeface="Arial"/>
                <a:sym typeface="Arial"/>
              </a:rPr>
              <a:t>Programme Cassiopée 2023-2024          fb: /Projets.Cassiopee/</a:t>
            </a:r>
            <a:endParaRPr sz="1200">
              <a:solidFill>
                <a:schemeClr val="dk1"/>
              </a:solidFill>
              <a:latin typeface="Arial"/>
              <a:ea typeface="Arial"/>
              <a:cs typeface="Arial"/>
              <a:sym typeface="Arial"/>
            </a:endParaRPr>
          </a:p>
        </p:txBody>
      </p:sp>
      <p:pic>
        <p:nvPicPr>
          <p:cNvPr descr="IT-Poster-Faux-logo1" id="27" name="Google Shape;27;p1"/>
          <p:cNvPicPr preferRelativeResize="0"/>
          <p:nvPr/>
        </p:nvPicPr>
        <p:blipFill rotWithShape="1">
          <a:blip r:embed="rId3">
            <a:alphaModFix/>
          </a:blip>
          <a:srcRect b="0" l="0" r="0" t="0"/>
          <a:stretch/>
        </p:blipFill>
        <p:spPr>
          <a:xfrm>
            <a:off x="778248" y="16259261"/>
            <a:ext cx="2752725" cy="1295400"/>
          </a:xfrm>
          <a:prstGeom prst="rect">
            <a:avLst/>
          </a:prstGeom>
          <a:noFill/>
          <a:ln>
            <a:noFill/>
          </a:ln>
        </p:spPr>
      </p:pic>
      <p:pic>
        <p:nvPicPr>
          <p:cNvPr descr="IT-Poster-Faux-logo1" id="28" name="Google Shape;28;p1"/>
          <p:cNvPicPr preferRelativeResize="0"/>
          <p:nvPr/>
        </p:nvPicPr>
        <p:blipFill rotWithShape="1">
          <a:blip r:embed="rId3">
            <a:alphaModFix/>
          </a:blip>
          <a:srcRect b="0" l="0" r="0" t="0"/>
          <a:stretch/>
        </p:blipFill>
        <p:spPr>
          <a:xfrm>
            <a:off x="778248" y="14506661"/>
            <a:ext cx="2752725" cy="1295400"/>
          </a:xfrm>
          <a:prstGeom prst="rect">
            <a:avLst/>
          </a:prstGeom>
          <a:noFill/>
          <a:ln>
            <a:noFill/>
          </a:ln>
        </p:spPr>
      </p:pic>
      <p:pic>
        <p:nvPicPr>
          <p:cNvPr descr="IT-Poster-Faux-logo1" id="29" name="Google Shape;29;p1"/>
          <p:cNvPicPr preferRelativeResize="0"/>
          <p:nvPr/>
        </p:nvPicPr>
        <p:blipFill rotWithShape="1">
          <a:blip r:embed="rId3">
            <a:alphaModFix/>
          </a:blip>
          <a:srcRect b="0" l="0" r="0" t="0"/>
          <a:stretch/>
        </p:blipFill>
        <p:spPr>
          <a:xfrm>
            <a:off x="778248" y="18011861"/>
            <a:ext cx="2752725" cy="1295400"/>
          </a:xfrm>
          <a:prstGeom prst="rect">
            <a:avLst/>
          </a:prstGeom>
          <a:noFill/>
          <a:ln>
            <a:noFill/>
          </a:ln>
        </p:spPr>
      </p:pic>
      <p:grpSp>
        <p:nvGrpSpPr>
          <p:cNvPr id="30" name="Google Shape;30;p1"/>
          <p:cNvGrpSpPr/>
          <p:nvPr/>
        </p:nvGrpSpPr>
        <p:grpSpPr>
          <a:xfrm>
            <a:off x="696890" y="19041677"/>
            <a:ext cx="2952328" cy="2488915"/>
            <a:chOff x="429817" y="16346016"/>
            <a:chExt cx="2952328" cy="2488915"/>
          </a:xfrm>
        </p:grpSpPr>
        <p:sp>
          <p:nvSpPr>
            <p:cNvPr id="31" name="Google Shape;31;p1"/>
            <p:cNvSpPr/>
            <p:nvPr/>
          </p:nvSpPr>
          <p:spPr>
            <a:xfrm>
              <a:off x="1509937" y="16346016"/>
              <a:ext cx="576064" cy="1080120"/>
            </a:xfrm>
            <a:prstGeom prst="upArrow">
              <a:avLst>
                <a:gd fmla="val 50000" name="adj1"/>
                <a:gd fmla="val 50000" name="adj2"/>
              </a:avLst>
            </a:prstGeom>
            <a:solidFill>
              <a:srgbClr val="FFFF00"/>
            </a:solidFill>
            <a:ln>
              <a:noFill/>
            </a:ln>
            <a:effectLst>
              <a:outerShdw blurRad="50800" rotWithShape="0" algn="tl" dir="2700000" dist="38100">
                <a:srgbClr val="000000">
                  <a:alpha val="4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sp>
          <p:nvSpPr>
            <p:cNvPr id="32" name="Google Shape;32;p1"/>
            <p:cNvSpPr txBox="1"/>
            <p:nvPr/>
          </p:nvSpPr>
          <p:spPr>
            <a:xfrm>
              <a:off x="429817" y="16994088"/>
              <a:ext cx="2952328" cy="1840843"/>
            </a:xfrm>
            <a:prstGeom prst="rect">
              <a:avLst/>
            </a:prstGeom>
            <a:solidFill>
              <a:srgbClr val="FFFF00"/>
            </a:solidFill>
            <a:ln>
              <a:noFill/>
            </a:ln>
            <a:effectLst>
              <a:outerShdw blurRad="50800" rotWithShape="0" algn="tl" dir="2700000" dist="38100">
                <a:srgbClr val="000000">
                  <a:alpha val="40000"/>
                </a:srgbClr>
              </a:outerShdw>
            </a:effectLst>
          </p:spPr>
          <p:txBody>
            <a:bodyPr anchorCtr="0" anchor="t" bIns="180000" lIns="180000" spcFirstLastPara="1" rIns="180000" wrap="square" tIns="180000">
              <a:spAutoFit/>
            </a:bodyPr>
            <a:lstStyle/>
            <a:p>
              <a:pPr indent="0" lvl="0" marL="0" marR="0" rtl="0" algn="l">
                <a:spcBef>
                  <a:spcPts val="0"/>
                </a:spcBef>
                <a:spcAft>
                  <a:spcPts val="0"/>
                </a:spcAft>
                <a:buNone/>
              </a:pPr>
              <a:r>
                <a:rPr b="1" lang="fr-FR" sz="2400">
                  <a:solidFill>
                    <a:schemeClr val="dk1"/>
                  </a:solidFill>
                  <a:latin typeface="Arial"/>
                  <a:ea typeface="Arial"/>
                  <a:cs typeface="Arial"/>
                  <a:sym typeface="Arial"/>
                </a:rPr>
                <a:t>Zone de placement de logos partenaires si besoin.</a:t>
              </a:r>
              <a:endParaRPr/>
            </a:p>
          </p:txBody>
        </p:sp>
      </p:grpSp>
      <p:sp>
        <p:nvSpPr>
          <p:cNvPr id="33" name="Google Shape;33;p1"/>
          <p:cNvSpPr txBox="1"/>
          <p:nvPr/>
        </p:nvSpPr>
        <p:spPr>
          <a:xfrm>
            <a:off x="4318249" y="1080320"/>
            <a:ext cx="11411510" cy="2088232"/>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i="0" lang="fr-FR" sz="6000" u="none" cap="none">
                <a:solidFill>
                  <a:schemeClr val="lt1"/>
                </a:solidFill>
                <a:latin typeface="Century Gothic"/>
                <a:ea typeface="Century Gothic"/>
                <a:cs typeface="Century Gothic"/>
                <a:sym typeface="Century Gothic"/>
              </a:rPr>
              <a:t>LA PROTECTION DE LA VIE PRIVÉE DANS LES BASES DE DONNÉES DE SANTÉ :</a:t>
            </a:r>
            <a:endParaRPr/>
          </a:p>
        </p:txBody>
      </p:sp>
      <p:sp>
        <p:nvSpPr>
          <p:cNvPr id="34" name="Google Shape;34;p1"/>
          <p:cNvSpPr txBox="1"/>
          <p:nvPr/>
        </p:nvSpPr>
        <p:spPr>
          <a:xfrm>
            <a:off x="4325554" y="3586380"/>
            <a:ext cx="10800345" cy="70246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4800"/>
              <a:buFont typeface="Century Gothic"/>
              <a:buNone/>
            </a:pPr>
            <a:r>
              <a:rPr b="0" i="0" lang="fr-FR" sz="4800" u="none" cap="none">
                <a:solidFill>
                  <a:schemeClr val="lt1"/>
                </a:solidFill>
                <a:latin typeface="Century Gothic"/>
                <a:ea typeface="Century Gothic"/>
                <a:cs typeface="Century Gothic"/>
                <a:sym typeface="Century Gothic"/>
              </a:rPr>
              <a:t> ENJEUX ET DÉFIS DE L'APPRENTISSAGE AUTOMATIQUE</a:t>
            </a:r>
            <a:endParaRPr/>
          </a:p>
        </p:txBody>
      </p:sp>
      <p:sp>
        <p:nvSpPr>
          <p:cNvPr id="35" name="Google Shape;35;p1"/>
          <p:cNvSpPr/>
          <p:nvPr/>
        </p:nvSpPr>
        <p:spPr>
          <a:xfrm>
            <a:off x="2391541" y="28006734"/>
            <a:ext cx="675990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800"/>
              <a:buFont typeface="Century Gothic"/>
              <a:buNone/>
            </a:pPr>
            <a:r>
              <a:rPr b="0" i="0" lang="fr-FR" sz="2800" u="none" cap="none" strike="noStrike">
                <a:solidFill>
                  <a:schemeClr val="lt1"/>
                </a:solidFill>
                <a:latin typeface="Century Gothic"/>
                <a:ea typeface="Century Gothic"/>
                <a:cs typeface="Century Gothic"/>
                <a:sym typeface="Century Gothic"/>
              </a:rPr>
              <a:t>﻿idriss.</a:t>
            </a:r>
            <a:r>
              <a:rPr lang="fr-FR" sz="2800">
                <a:solidFill>
                  <a:schemeClr val="lt1"/>
                </a:solidFill>
                <a:latin typeface="Century Gothic"/>
                <a:ea typeface="Century Gothic"/>
                <a:cs typeface="Century Gothic"/>
                <a:sym typeface="Century Gothic"/>
              </a:rPr>
              <a:t>lakas</a:t>
            </a:r>
            <a:r>
              <a:rPr b="0" i="0" lang="fr-FR" sz="2800" u="none" cap="none" strike="noStrike">
                <a:solidFill>
                  <a:schemeClr val="lt1"/>
                </a:solidFill>
                <a:latin typeface="Century Gothic"/>
                <a:ea typeface="Century Gothic"/>
                <a:cs typeface="Century Gothic"/>
                <a:sym typeface="Century Gothic"/>
              </a:rPr>
              <a:t>@﻿telecom-sudparis.eu</a:t>
            </a:r>
            <a:endParaRPr b="0" i="0" sz="2800" u="none" cap="none" strike="noStrike">
              <a:solidFill>
                <a:schemeClr val="lt1"/>
              </a:solidFill>
              <a:latin typeface="Century Gothic"/>
              <a:ea typeface="Century Gothic"/>
              <a:cs typeface="Century Gothic"/>
              <a:sym typeface="Century Gothic"/>
            </a:endParaRPr>
          </a:p>
        </p:txBody>
      </p:sp>
      <p:sp>
        <p:nvSpPr>
          <p:cNvPr id="36" name="Google Shape;36;p1"/>
          <p:cNvSpPr/>
          <p:nvPr/>
        </p:nvSpPr>
        <p:spPr>
          <a:xfrm>
            <a:off x="11743734" y="28006734"/>
            <a:ext cx="9360207" cy="5232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fr-FR" sz="2800">
                <a:solidFill>
                  <a:schemeClr val="lt1"/>
                </a:solidFill>
                <a:latin typeface="Century Gothic"/>
                <a:ea typeface="Century Gothic"/>
                <a:cs typeface="Century Gothic"/>
                <a:sym typeface="Century Gothic"/>
              </a:rPr>
              <a:t>https://www.telecom-sudparis.eu</a:t>
            </a:r>
            <a:endParaRPr b="1" i="0" sz="2800" u="none" cap="none" strike="noStrike">
              <a:solidFill>
                <a:schemeClr val="lt1"/>
              </a:solidFill>
              <a:latin typeface="Century Gothic"/>
              <a:ea typeface="Century Gothic"/>
              <a:cs typeface="Century Gothic"/>
              <a:sym typeface="Century Gothic"/>
            </a:endParaRPr>
          </a:p>
        </p:txBody>
      </p:sp>
      <p:grpSp>
        <p:nvGrpSpPr>
          <p:cNvPr id="37" name="Google Shape;37;p1"/>
          <p:cNvGrpSpPr/>
          <p:nvPr/>
        </p:nvGrpSpPr>
        <p:grpSpPr>
          <a:xfrm>
            <a:off x="5174100" y="8276647"/>
            <a:ext cx="7128467" cy="3293707"/>
            <a:chOff x="1828515" y="6140595"/>
            <a:chExt cx="8959863" cy="3293707"/>
          </a:xfrm>
        </p:grpSpPr>
        <p:sp>
          <p:nvSpPr>
            <p:cNvPr id="38" name="Google Shape;38;p1"/>
            <p:cNvSpPr txBox="1"/>
            <p:nvPr/>
          </p:nvSpPr>
          <p:spPr>
            <a:xfrm>
              <a:off x="1828539" y="6140595"/>
              <a:ext cx="8959839" cy="484341"/>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lang="fr-FR" sz="4800">
                  <a:solidFill>
                    <a:srgbClr val="062F66"/>
                  </a:solidFill>
                  <a:latin typeface="Century Gothic"/>
                  <a:ea typeface="Century Gothic"/>
                  <a:cs typeface="Century Gothic"/>
                  <a:sym typeface="Century Gothic"/>
                </a:rPr>
                <a:t>Contexte et motivations</a:t>
              </a:r>
              <a:endParaRPr b="1" i="0" sz="4800" u="none" cap="none">
                <a:solidFill>
                  <a:srgbClr val="062F66"/>
                </a:solidFill>
                <a:latin typeface="Century Gothic"/>
                <a:ea typeface="Century Gothic"/>
                <a:cs typeface="Century Gothic"/>
                <a:sym typeface="Century Gothic"/>
              </a:endParaRPr>
            </a:p>
          </p:txBody>
        </p:sp>
        <p:sp>
          <p:nvSpPr>
            <p:cNvPr id="39" name="Google Shape;39;p1"/>
            <p:cNvSpPr txBox="1"/>
            <p:nvPr/>
          </p:nvSpPr>
          <p:spPr>
            <a:xfrm>
              <a:off x="1828528" y="6768952"/>
              <a:ext cx="8959735" cy="5973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62F66"/>
                </a:buClr>
                <a:buSzPts val="2800"/>
                <a:buFont typeface="Century Gothic"/>
                <a:buNone/>
              </a:pPr>
              <a:r>
                <a:rPr b="0" i="0" lang="fr-FR" sz="2800" u="none" cap="none">
                  <a:solidFill>
                    <a:srgbClr val="062F66"/>
                  </a:solidFill>
                  <a:latin typeface="Century Gothic"/>
                  <a:ea typeface="Century Gothic"/>
                  <a:cs typeface="Century Gothic"/>
                  <a:sym typeface="Century Gothic"/>
                </a:rPr>
                <a:t>MIMIC III</a:t>
              </a:r>
              <a:endParaRPr/>
            </a:p>
          </p:txBody>
        </p:sp>
        <p:sp>
          <p:nvSpPr>
            <p:cNvPr id="40" name="Google Shape;40;p1"/>
            <p:cNvSpPr/>
            <p:nvPr/>
          </p:nvSpPr>
          <p:spPr>
            <a:xfrm>
              <a:off x="1828515" y="7592002"/>
              <a:ext cx="8959800" cy="1842300"/>
            </a:xfrm>
            <a:prstGeom prst="rect">
              <a:avLst/>
            </a:prstGeom>
            <a:noFill/>
            <a:ln>
              <a:noFill/>
            </a:ln>
          </p:spPr>
          <p:txBody>
            <a:bodyPr anchorCtr="0" anchor="t" bIns="45700" lIns="91425" spcFirstLastPara="1" rIns="91425" wrap="square" tIns="45700">
              <a:spAutoFit/>
            </a:bodyPr>
            <a:lstStyle/>
            <a:p>
              <a:pPr indent="0" lvl="0" marL="0" marR="0" rtl="0" algn="just">
                <a:spcBef>
                  <a:spcPts val="600"/>
                </a:spcBef>
                <a:spcAft>
                  <a:spcPts val="0"/>
                </a:spcAft>
                <a:buNone/>
              </a:pPr>
              <a:r>
                <a:t/>
              </a:r>
              <a:endParaRPr sz="3100">
                <a:solidFill>
                  <a:srgbClr val="595959"/>
                </a:solidFill>
                <a:latin typeface="Times New Roman"/>
                <a:ea typeface="Times New Roman"/>
                <a:cs typeface="Times New Roman"/>
                <a:sym typeface="Times New Roman"/>
              </a:endParaRPr>
            </a:p>
          </p:txBody>
        </p:sp>
      </p:grpSp>
      <p:grpSp>
        <p:nvGrpSpPr>
          <p:cNvPr id="41" name="Google Shape;41;p1"/>
          <p:cNvGrpSpPr/>
          <p:nvPr/>
        </p:nvGrpSpPr>
        <p:grpSpPr>
          <a:xfrm>
            <a:off x="13093813" y="10062515"/>
            <a:ext cx="7128793" cy="6945221"/>
            <a:chOff x="1828528" y="6140595"/>
            <a:chExt cx="8959851" cy="6945221"/>
          </a:xfrm>
        </p:grpSpPr>
        <p:sp>
          <p:nvSpPr>
            <p:cNvPr id="42" name="Google Shape;42;p1"/>
            <p:cNvSpPr txBox="1"/>
            <p:nvPr/>
          </p:nvSpPr>
          <p:spPr>
            <a:xfrm>
              <a:off x="1828540" y="6140595"/>
              <a:ext cx="8959839" cy="484341"/>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i="0" lang="fr-FR" sz="4800" u="none" cap="none">
                  <a:solidFill>
                    <a:srgbClr val="062F66"/>
                  </a:solidFill>
                  <a:latin typeface="Century Gothic"/>
                  <a:ea typeface="Century Gothic"/>
                  <a:cs typeface="Century Gothic"/>
                  <a:sym typeface="Century Gothic"/>
                </a:rPr>
                <a:t>APPRENTISSAGE FÉDÉRÉ</a:t>
              </a:r>
              <a:endParaRPr/>
            </a:p>
          </p:txBody>
        </p:sp>
        <p:sp>
          <p:nvSpPr>
            <p:cNvPr id="43" name="Google Shape;43;p1"/>
            <p:cNvSpPr txBox="1"/>
            <p:nvPr/>
          </p:nvSpPr>
          <p:spPr>
            <a:xfrm>
              <a:off x="1828528" y="6768952"/>
              <a:ext cx="8959736" cy="5973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62F66"/>
                </a:buClr>
                <a:buSzPts val="2800"/>
                <a:buFont typeface="Century Gothic"/>
                <a:buNone/>
              </a:pPr>
              <a:r>
                <a:rPr b="0" i="0" lang="fr-FR" sz="2800" u="none" cap="none">
                  <a:solidFill>
                    <a:srgbClr val="062F66"/>
                  </a:solidFill>
                  <a:latin typeface="Century Gothic"/>
                  <a:ea typeface="Century Gothic"/>
                  <a:cs typeface="Century Gothic"/>
                  <a:sym typeface="Century Gothic"/>
                </a:rPr>
                <a:t>ENTRAÎNEMENT D’UN MODÈLE</a:t>
              </a:r>
              <a:endParaRPr/>
            </a:p>
          </p:txBody>
        </p:sp>
        <p:sp>
          <p:nvSpPr>
            <p:cNvPr id="44" name="Google Shape;44;p1"/>
            <p:cNvSpPr/>
            <p:nvPr/>
          </p:nvSpPr>
          <p:spPr>
            <a:xfrm>
              <a:off x="1828528" y="7592004"/>
              <a:ext cx="8959737" cy="5493812"/>
            </a:xfrm>
            <a:prstGeom prst="rect">
              <a:avLst/>
            </a:prstGeom>
            <a:noFill/>
            <a:ln>
              <a:noFill/>
            </a:ln>
          </p:spPr>
          <p:txBody>
            <a:bodyPr anchorCtr="0" anchor="t" bIns="45700" lIns="91425" spcFirstLastPara="1" rIns="91425" wrap="square" tIns="45700">
              <a:spAutoFit/>
            </a:bodyPr>
            <a:lstStyle/>
            <a:p>
              <a:pPr indent="-228600" lvl="0" marL="228600" marR="0" rtl="0" algn="just">
                <a:spcBef>
                  <a:spcPts val="0"/>
                </a:spcBef>
                <a:spcAft>
                  <a:spcPts val="0"/>
                </a:spcAft>
                <a:buClr>
                  <a:srgbClr val="D1214B"/>
                </a:buClr>
                <a:buSzPts val="2400"/>
                <a:buFont typeface="Arial"/>
                <a:buAutoNum type="arabicPeriod"/>
              </a:pPr>
              <a:r>
                <a:rPr lang="fr-FR" sz="2400">
                  <a:solidFill>
                    <a:srgbClr val="595959"/>
                  </a:solidFill>
                  <a:latin typeface="Century Gothic"/>
                  <a:ea typeface="Century Gothic"/>
                  <a:cs typeface="Century Gothic"/>
                  <a:sym typeface="Century Gothic"/>
                </a:rPr>
                <a:t>Décentralisation des Données : Les données restent sur chaque serveur client et ne sont pas centralisées sur un serveur unique.</a:t>
              </a:r>
              <a:endParaRPr/>
            </a:p>
            <a:p>
              <a:pPr indent="-228600" lvl="0" marL="228600" marR="0" rtl="0" algn="just">
                <a:spcBef>
                  <a:spcPts val="600"/>
                </a:spcBef>
                <a:spcAft>
                  <a:spcPts val="0"/>
                </a:spcAft>
                <a:buClr>
                  <a:srgbClr val="D1214B"/>
                </a:buClr>
                <a:buSzPts val="2400"/>
                <a:buFont typeface="Arial"/>
                <a:buAutoNum type="arabicPeriod"/>
              </a:pPr>
              <a:r>
                <a:rPr lang="fr-FR" sz="2400">
                  <a:solidFill>
                    <a:srgbClr val="595959"/>
                  </a:solidFill>
                  <a:latin typeface="Century Gothic"/>
                  <a:ea typeface="Century Gothic"/>
                  <a:cs typeface="Century Gothic"/>
                  <a:sym typeface="Century Gothic"/>
                </a:rPr>
                <a:t>Processus de Formation : Les modèles sont formés localement sur chaque appareil puis coalisés sur un serveur central.</a:t>
              </a:r>
              <a:endParaRPr/>
            </a:p>
            <a:p>
              <a:pPr indent="-228600" lvl="0" marL="228600" marR="0" rtl="0" algn="just">
                <a:spcBef>
                  <a:spcPts val="600"/>
                </a:spcBef>
                <a:spcAft>
                  <a:spcPts val="0"/>
                </a:spcAft>
                <a:buClr>
                  <a:srgbClr val="D1214B"/>
                </a:buClr>
                <a:buSzPts val="2400"/>
                <a:buFont typeface="Arial"/>
                <a:buAutoNum type="arabicPeriod"/>
              </a:pPr>
              <a:r>
                <a:rPr lang="fr-FR" sz="2400">
                  <a:solidFill>
                    <a:srgbClr val="595959"/>
                  </a:solidFill>
                  <a:latin typeface="Century Gothic"/>
                  <a:ea typeface="Century Gothic"/>
                  <a:cs typeface="Century Gothic"/>
                  <a:sym typeface="Century Gothic"/>
                </a:rPr>
                <a:t>L'apprentissage fédéré réduit le risque de fuite de données car les données sensibles ne quittent jamais les appareils des utilisateurs. </a:t>
              </a:r>
              <a:endParaRPr/>
            </a:p>
            <a:p>
              <a:pPr indent="-228600" lvl="0" marL="228600" marR="0" rtl="0" algn="just">
                <a:spcBef>
                  <a:spcPts val="600"/>
                </a:spcBef>
                <a:spcAft>
                  <a:spcPts val="0"/>
                </a:spcAft>
                <a:buClr>
                  <a:srgbClr val="D1214B"/>
                </a:buClr>
                <a:buSzPts val="2400"/>
                <a:buFont typeface="Arial"/>
                <a:buAutoNum type="arabicPeriod"/>
              </a:pPr>
              <a:r>
                <a:rPr lang="fr-FR" sz="2400">
                  <a:solidFill>
                    <a:srgbClr val="595959"/>
                  </a:solidFill>
                  <a:latin typeface="Century Gothic"/>
                  <a:ea typeface="Century Gothic"/>
                  <a:cs typeface="Century Gothic"/>
                  <a:sym typeface="Century Gothic"/>
                </a:rPr>
                <a:t>Il permet de tirer parti de la puissance de calcul des appareils périphériques, ce qui peut réduire la charge sur les serveurs centraux et améliorer l'efficacité globale.</a:t>
              </a:r>
              <a:endParaRPr/>
            </a:p>
          </p:txBody>
        </p:sp>
      </p:grpSp>
      <p:grpSp>
        <p:nvGrpSpPr>
          <p:cNvPr id="45" name="Google Shape;45;p1"/>
          <p:cNvGrpSpPr/>
          <p:nvPr/>
        </p:nvGrpSpPr>
        <p:grpSpPr>
          <a:xfrm>
            <a:off x="5174179" y="18650272"/>
            <a:ext cx="7128792" cy="8542186"/>
            <a:chOff x="1828528" y="6140595"/>
            <a:chExt cx="8959850" cy="8542186"/>
          </a:xfrm>
        </p:grpSpPr>
        <p:sp>
          <p:nvSpPr>
            <p:cNvPr id="46" name="Google Shape;46;p1"/>
            <p:cNvSpPr txBox="1"/>
            <p:nvPr/>
          </p:nvSpPr>
          <p:spPr>
            <a:xfrm>
              <a:off x="1828539" y="6140595"/>
              <a:ext cx="8959839" cy="484341"/>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None/>
              </a:pPr>
              <a:r>
                <a:rPr b="1" i="0" lang="fr-FR" sz="4800" u="none" cap="none">
                  <a:solidFill>
                    <a:srgbClr val="062F66"/>
                  </a:solidFill>
                  <a:latin typeface="Century Gothic"/>
                  <a:ea typeface="Century Gothic"/>
                  <a:cs typeface="Century Gothic"/>
                  <a:sym typeface="Century Gothic"/>
                </a:rPr>
                <a:t>ATTAQUES</a:t>
              </a:r>
              <a:endParaRPr/>
            </a:p>
          </p:txBody>
        </p:sp>
        <p:sp>
          <p:nvSpPr>
            <p:cNvPr id="47" name="Google Shape;47;p1"/>
            <p:cNvSpPr txBox="1"/>
            <p:nvPr/>
          </p:nvSpPr>
          <p:spPr>
            <a:xfrm>
              <a:off x="1828528" y="6768952"/>
              <a:ext cx="8959737" cy="9558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62F66"/>
                </a:buClr>
                <a:buSzPts val="2800"/>
                <a:buFont typeface="Century Gothic"/>
                <a:buNone/>
              </a:pPr>
              <a:r>
                <a:rPr b="0" i="0" lang="fr-FR" sz="2800" u="none" cap="none">
                  <a:solidFill>
                    <a:srgbClr val="062F66"/>
                  </a:solidFill>
                  <a:latin typeface="Century Gothic"/>
                  <a:ea typeface="Century Gothic"/>
                  <a:cs typeface="Century Gothic"/>
                  <a:sym typeface="Century Gothic"/>
                </a:rPr>
                <a:t>INFÉRENCE D’APPARTENANCE/</a:t>
              </a:r>
              <a:endParaRPr/>
            </a:p>
            <a:p>
              <a:pPr indent="0" lvl="0" marL="0" marR="0" rtl="0" algn="l">
                <a:spcBef>
                  <a:spcPts val="0"/>
                </a:spcBef>
                <a:spcAft>
                  <a:spcPts val="0"/>
                </a:spcAft>
                <a:buClr>
                  <a:srgbClr val="062F66"/>
                </a:buClr>
                <a:buSzPts val="2800"/>
                <a:buFont typeface="Century Gothic"/>
                <a:buNone/>
              </a:pPr>
              <a:r>
                <a:rPr b="0" i="0" lang="fr-FR" sz="2800" u="none" cap="none">
                  <a:solidFill>
                    <a:srgbClr val="062F66"/>
                  </a:solidFill>
                  <a:latin typeface="Century Gothic"/>
                  <a:ea typeface="Century Gothic"/>
                  <a:cs typeface="Century Gothic"/>
                  <a:sym typeface="Century Gothic"/>
                </a:rPr>
                <a:t>SUPPRESSION DE GRADIENT</a:t>
              </a:r>
              <a:endParaRPr/>
            </a:p>
          </p:txBody>
        </p:sp>
        <p:sp>
          <p:nvSpPr>
            <p:cNvPr id="48" name="Google Shape;48;p1"/>
            <p:cNvSpPr/>
            <p:nvPr/>
          </p:nvSpPr>
          <p:spPr>
            <a:xfrm>
              <a:off x="1828528" y="8080974"/>
              <a:ext cx="8959737" cy="6601807"/>
            </a:xfrm>
            <a:prstGeom prst="rect">
              <a:avLst/>
            </a:prstGeom>
            <a:noFill/>
            <a:ln>
              <a:noFill/>
            </a:ln>
          </p:spPr>
          <p:txBody>
            <a:bodyPr anchorCtr="0" anchor="t" bIns="45700" lIns="91425" spcFirstLastPara="1" rIns="91425" wrap="square" tIns="45700">
              <a:spAutoFit/>
            </a:bodyPr>
            <a:lstStyle/>
            <a:p>
              <a:pPr indent="-228600" lvl="0" marL="228600" marR="0" rtl="0" algn="just">
                <a:spcBef>
                  <a:spcPts val="0"/>
                </a:spcBef>
                <a:spcAft>
                  <a:spcPts val="0"/>
                </a:spcAft>
                <a:buClr>
                  <a:srgbClr val="D1214B"/>
                </a:buClr>
                <a:buSzPts val="2400"/>
                <a:buFont typeface="Arial"/>
                <a:buAutoNum type="arabicPeriod"/>
              </a:pPr>
              <a:r>
                <a:rPr b="1" lang="fr-FR" sz="2400">
                  <a:solidFill>
                    <a:srgbClr val="595959"/>
                  </a:solidFill>
                  <a:latin typeface="Century Gothic"/>
                  <a:ea typeface="Century Gothic"/>
                  <a:cs typeface="Century Gothic"/>
                  <a:sym typeface="Century Gothic"/>
                </a:rPr>
                <a:t>Inférence d’appartenance : </a:t>
              </a:r>
              <a:r>
                <a:rPr lang="fr-FR" sz="2400">
                  <a:solidFill>
                    <a:srgbClr val="595959"/>
                  </a:solidFill>
                  <a:latin typeface="Century Gothic"/>
                  <a:ea typeface="Century Gothic"/>
                  <a:cs typeface="Century Gothic"/>
                  <a:sym typeface="Century Gothic"/>
                </a:rPr>
                <a:t>L'objectif est de déterminer si des données spécifiques étaient incluses dans l’ensemble de données utilisé pour entraîner un modèle. L'attaquant doit avoir accès au modèle cible. En analysant les réponses du modèle, l'attaquant essaie de distinguer si les échantillons étaient ou pas dans l’ensemble de données d'entraînement.</a:t>
              </a:r>
              <a:endParaRPr/>
            </a:p>
            <a:p>
              <a:pPr indent="-76200" lvl="0" marL="228600" marR="0" rtl="0" algn="just">
                <a:spcBef>
                  <a:spcPts val="600"/>
                </a:spcBef>
                <a:spcAft>
                  <a:spcPts val="0"/>
                </a:spcAft>
                <a:buClr>
                  <a:srgbClr val="D1214B"/>
                </a:buClr>
                <a:buSzPts val="2400"/>
                <a:buFont typeface="Arial"/>
                <a:buNone/>
              </a:pPr>
              <a:r>
                <a:t/>
              </a:r>
              <a:endParaRPr sz="2400">
                <a:solidFill>
                  <a:srgbClr val="595959"/>
                </a:solidFill>
                <a:latin typeface="Century Gothic"/>
                <a:ea typeface="Century Gothic"/>
                <a:cs typeface="Century Gothic"/>
                <a:sym typeface="Century Gothic"/>
              </a:endParaRPr>
            </a:p>
            <a:p>
              <a:pPr indent="-228600" lvl="0" marL="228600" marR="0" rtl="0" algn="just">
                <a:spcBef>
                  <a:spcPts val="600"/>
                </a:spcBef>
                <a:spcAft>
                  <a:spcPts val="0"/>
                </a:spcAft>
                <a:buClr>
                  <a:srgbClr val="D1214B"/>
                </a:buClr>
                <a:buSzPts val="2400"/>
                <a:buFont typeface="Arial"/>
                <a:buAutoNum type="arabicPeriod"/>
              </a:pPr>
              <a:r>
                <a:rPr b="1" lang="fr-FR" sz="2400">
                  <a:solidFill>
                    <a:srgbClr val="595959"/>
                  </a:solidFill>
                  <a:latin typeface="Century Gothic"/>
                  <a:ea typeface="Century Gothic"/>
                  <a:cs typeface="Century Gothic"/>
                  <a:sym typeface="Century Gothic"/>
                </a:rPr>
                <a:t>Suppression de gradient : </a:t>
              </a:r>
              <a:r>
                <a:rPr lang="fr-FR" sz="2400">
                  <a:solidFill>
                    <a:srgbClr val="595959"/>
                  </a:solidFill>
                  <a:latin typeface="Century Gothic"/>
                  <a:ea typeface="Century Gothic"/>
                  <a:cs typeface="Century Gothic"/>
                  <a:sym typeface="Century Gothic"/>
                </a:rPr>
                <a:t>L'objectif est de déduire des informations sensibles à partir des mises à jour des gradients. En observant ces derniers, le serveur peut essayer de reconstruire les données d'entrée ou d'autres informations sensibles.</a:t>
              </a:r>
              <a:endParaRPr/>
            </a:p>
            <a:p>
              <a:pPr indent="-76200" lvl="0" marL="228600" marR="0" rtl="0" algn="just">
                <a:spcBef>
                  <a:spcPts val="600"/>
                </a:spcBef>
                <a:spcAft>
                  <a:spcPts val="0"/>
                </a:spcAft>
                <a:buClr>
                  <a:srgbClr val="D1214B"/>
                </a:buClr>
                <a:buSzPts val="2400"/>
                <a:buFont typeface="Arial"/>
                <a:buNone/>
              </a:pPr>
              <a:r>
                <a:t/>
              </a:r>
              <a:endParaRPr sz="2400">
                <a:solidFill>
                  <a:srgbClr val="595959"/>
                </a:solidFill>
                <a:latin typeface="Century Gothic"/>
                <a:ea typeface="Century Gothic"/>
                <a:cs typeface="Century Gothic"/>
                <a:sym typeface="Century Gothic"/>
              </a:endParaRPr>
            </a:p>
          </p:txBody>
        </p:sp>
      </p:grpSp>
      <p:sp>
        <p:nvSpPr>
          <p:cNvPr id="49" name="Google Shape;49;p1"/>
          <p:cNvSpPr txBox="1"/>
          <p:nvPr/>
        </p:nvSpPr>
        <p:spPr>
          <a:xfrm>
            <a:off x="19731576" y="1986919"/>
            <a:ext cx="1372365"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6600">
                <a:solidFill>
                  <a:srgbClr val="F2F2F2"/>
                </a:solidFill>
                <a:latin typeface="Arial"/>
                <a:ea typeface="Arial"/>
                <a:cs typeface="Arial"/>
                <a:sym typeface="Arial"/>
              </a:rPr>
              <a:t>72</a:t>
            </a:r>
            <a:endParaRPr/>
          </a:p>
        </p:txBody>
      </p:sp>
      <p:sp>
        <p:nvSpPr>
          <p:cNvPr id="50" name="Google Shape;50;p1"/>
          <p:cNvSpPr txBox="1"/>
          <p:nvPr/>
        </p:nvSpPr>
        <p:spPr>
          <a:xfrm>
            <a:off x="493451" y="9759653"/>
            <a:ext cx="23937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fr-FR" sz="3200">
                <a:solidFill>
                  <a:srgbClr val="052E65"/>
                </a:solidFill>
                <a:latin typeface="Century Gothic"/>
                <a:ea typeface="Century Gothic"/>
                <a:cs typeface="Century Gothic"/>
                <a:sym typeface="Century Gothic"/>
              </a:rPr>
              <a:t>Encadrants</a:t>
            </a:r>
            <a:endParaRPr/>
          </a:p>
        </p:txBody>
      </p:sp>
      <p:sp>
        <p:nvSpPr>
          <p:cNvPr id="51" name="Google Shape;51;p1"/>
          <p:cNvSpPr txBox="1"/>
          <p:nvPr/>
        </p:nvSpPr>
        <p:spPr>
          <a:xfrm>
            <a:off x="696890" y="10729392"/>
            <a:ext cx="3087789" cy="753732"/>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None/>
            </a:pPr>
            <a:r>
              <a:rPr lang="fr-FR" sz="1800">
                <a:solidFill>
                  <a:schemeClr val="dk1"/>
                </a:solidFill>
                <a:latin typeface="Century Gothic"/>
                <a:ea typeface="Century Gothic"/>
                <a:cs typeface="Century Gothic"/>
                <a:sym typeface="Century Gothic"/>
              </a:rPr>
              <a:t>KAANICHE Nesrine</a:t>
            </a:r>
            <a:endParaRPr/>
          </a:p>
          <a:p>
            <a:pPr indent="0" lvl="0" marL="0" marR="0" rtl="0" algn="l">
              <a:lnSpc>
                <a:spcPct val="110000"/>
              </a:lnSpc>
              <a:spcBef>
                <a:spcPts val="600"/>
              </a:spcBef>
              <a:spcAft>
                <a:spcPts val="0"/>
              </a:spcAft>
              <a:buNone/>
            </a:pPr>
            <a:r>
              <a:rPr lang="fr-FR" sz="1800">
                <a:solidFill>
                  <a:schemeClr val="dk1"/>
                </a:solidFill>
                <a:latin typeface="Century Gothic"/>
                <a:ea typeface="Century Gothic"/>
                <a:cs typeface="Century Gothic"/>
                <a:sym typeface="Century Gothic"/>
              </a:rPr>
              <a:t>BENDOUKHA Adda Akram</a:t>
            </a:r>
            <a:endParaRPr/>
          </a:p>
        </p:txBody>
      </p:sp>
      <p:pic>
        <p:nvPicPr>
          <p:cNvPr id="52" name="Google Shape;52;p1"/>
          <p:cNvPicPr preferRelativeResize="0"/>
          <p:nvPr/>
        </p:nvPicPr>
        <p:blipFill>
          <a:blip r:embed="rId4">
            <a:alphaModFix/>
          </a:blip>
          <a:stretch>
            <a:fillRect/>
          </a:stretch>
        </p:blipFill>
        <p:spPr>
          <a:xfrm>
            <a:off x="12832488" y="17554638"/>
            <a:ext cx="7734300" cy="4610100"/>
          </a:xfrm>
          <a:prstGeom prst="rect">
            <a:avLst/>
          </a:prstGeom>
          <a:solidFill>
            <a:srgbClr val="F2F2F2"/>
          </a:solidFill>
          <a:ln>
            <a:noFill/>
          </a:ln>
        </p:spPr>
      </p:pic>
      <p:pic>
        <p:nvPicPr>
          <p:cNvPr id="53" name="Google Shape;53;p1"/>
          <p:cNvPicPr preferRelativeResize="0"/>
          <p:nvPr/>
        </p:nvPicPr>
        <p:blipFill>
          <a:blip r:embed="rId5">
            <a:alphaModFix/>
          </a:blip>
          <a:stretch>
            <a:fillRect/>
          </a:stretch>
        </p:blipFill>
        <p:spPr>
          <a:xfrm>
            <a:off x="12415125" y="6026700"/>
            <a:ext cx="8681575" cy="3753579"/>
          </a:xfrm>
          <a:prstGeom prst="rect">
            <a:avLst/>
          </a:prstGeom>
          <a:solidFill>
            <a:srgbClr val="F2F2F2"/>
          </a:solid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lecom_SudParis_Poster_recherche">
  <a:themeElements>
    <a:clrScheme name="Institut-TELECOM-Poster-Model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2012-02-29T16:05:21Z</dcterms:created>
  <dc:creator>IMT</dc:creator>
</cp:coreProperties>
</file>